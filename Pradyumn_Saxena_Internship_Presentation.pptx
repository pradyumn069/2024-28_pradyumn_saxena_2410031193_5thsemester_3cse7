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5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D2EE"/>
                </a:solidFill>
                <a:latin typeface="Aptos Display"/>
              </a:defRPr>
            </a:pPr>
            <a:r>
              <a:t>INTERNSHIP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UI/UX Design, Debugging,</a:t>
            </a:r>
            <a:br/>
            <a:r>
              <a:t>App Development &amp; Front-End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3703320"/>
            <a:ext cx="5486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Pradyumn Saxena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Roll No.: 2410031193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B.Tech CSE – 3rd Year | IILM University, Greater Noida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3657600"/>
            <a:ext cx="3383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BAXELLE GLOBAL PVT LTD</a:t>
            </a:r>
          </a:p>
          <a:p>
            <a:pPr algn="r">
              <a:spcAft>
                <a:spcPts val="8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Mentor: Mr. Shubhanshu Saxena</a:t>
            </a:r>
          </a:p>
          <a:p>
            <a:pPr algn="r">
              <a:spcAft>
                <a:spcPts val="8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02 June 2026 – 20 July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5624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3"/>
                </a:solidFill>
                <a:latin typeface="Aptos"/>
              </a:defRPr>
            </a:pPr>
            <a:r>
              <a:t>BAXELLE GLOBAL PVT LTD  |  Pradyumn Saxena   •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2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773"/>
                </a:solidFill>
                <a:latin typeface="Aptos"/>
              </a:defRPr>
            </a:pPr>
            <a:r>
              <a:t>Six-week industrial internship at BAXELLE GLOBAL PVT LTD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60320" cy="1874519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645920"/>
            <a:ext cx="530352" cy="530352"/>
          </a:xfrm>
          <a:prstGeom prst="ellipse">
            <a:avLst/>
          </a:prstGeom>
          <a:solidFill>
            <a:srgbClr val="E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64208"/>
            <a:ext cx="530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Segoe UI Emoji"/>
              </a:defRPr>
            </a:pPr>
            <a:r>
              <a:t>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Duration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21031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C6773"/>
                </a:solidFill>
                <a:latin typeface="Aptos"/>
              </a:defRPr>
            </a:pPr>
            <a:r>
              <a:t>02/06/2026 – 20/07/2026</a:t>
            </a:r>
            <a:br/>
            <a:r>
              <a:t>Six-week internship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560320" cy="1874519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0168" y="1645920"/>
            <a:ext cx="530352" cy="530352"/>
          </a:xfrm>
          <a:prstGeom prst="ellipse">
            <a:avLst/>
          </a:prstGeom>
          <a:solidFill>
            <a:srgbClr val="E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664208"/>
            <a:ext cx="530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Segoe UI Emoji"/>
              </a:defRPr>
            </a:pPr>
            <a:r>
              <a:t>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585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51760"/>
            <a:ext cx="21031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C6773"/>
                </a:solidFill>
                <a:latin typeface="Aptos"/>
              </a:defRPr>
            </a:pPr>
            <a:r>
              <a:t>BAXELLE GLOBAL PVT LTD</a:t>
            </a:r>
            <a:br/>
            <a:r>
              <a:t>Technology-oriented software &amp; digital product environment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2560320" cy="1874519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645920"/>
            <a:ext cx="530352" cy="530352"/>
          </a:xfrm>
          <a:prstGeom prst="ellipse">
            <a:avLst/>
          </a:prstGeom>
          <a:solidFill>
            <a:srgbClr val="E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664208"/>
            <a:ext cx="530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Segoe UI Emoji"/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585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Mentorship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51760"/>
            <a:ext cx="21031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C6773"/>
                </a:solidFill>
                <a:latin typeface="Aptos"/>
              </a:defRPr>
            </a:pPr>
            <a:r>
              <a:t>Mr. Shubhanshu Saxena</a:t>
            </a:r>
            <a:br/>
            <a:r>
              <a:t>Guidance, feedback and task supervision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417320"/>
            <a:ext cx="2560320" cy="1874519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08008" y="1645920"/>
            <a:ext cx="530352" cy="530352"/>
          </a:xfrm>
          <a:prstGeom prst="ellipse">
            <a:avLst/>
          </a:prstGeom>
          <a:solidFill>
            <a:srgbClr val="E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8008" y="1664208"/>
            <a:ext cx="530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Segoe UI Emoji"/>
              </a:defRPr>
            </a:pPr>
            <a:r>
              <a:t>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2585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Academic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51760"/>
            <a:ext cx="21031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C6773"/>
                </a:solidFill>
                <a:latin typeface="Aptos"/>
              </a:defRPr>
            </a:pPr>
            <a:r>
              <a:t>IILM University, Greater Noida</a:t>
            </a:r>
            <a:br/>
            <a:r>
              <a:t>B.Tech CSE – 3rd 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862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Primary learning areas: UI/UX design, software debugging, application development and front-end development.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Learning progressed from foundational concepts and tool familiarisation to task-based contribution and review.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The internship connected design, implementation, testing and refinement in an iterative workflow.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55624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3"/>
                </a:solidFill>
                <a:latin typeface="Aptos"/>
              </a:defRPr>
            </a:pPr>
            <a:r>
              <a:t>BAXELLE GLOBAL PVT LTD  |  Pradyumn Saxena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2"/>
                </a:solidFill>
                <a:latin typeface="Aptos Display"/>
              </a:defRPr>
            </a:pPr>
            <a:r>
              <a:t>Organization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773"/>
                </a:solidFill>
                <a:latin typeface="Aptos"/>
              </a:defRPr>
            </a:pPr>
            <a:r>
              <a:t>Work environment and internship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BAXELLE GLOBAL PVT LTD is described in the report as a technology-oriented organisation engaged in software and digital product development.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Its reported service areas include web and mobile application development, UI/UX design, and quality assurance/debugging support.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The organisation follows an agile, team-based approach with design, development and testing handled in short iterative cycles.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During the internship, the intern was attached to the application development team and worked alongside front-end developers and UI/UX designers.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The work included daily stand-up style discussions and progressively challenging tasks under mentor supervision.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5166360"/>
            <a:ext cx="3566160" cy="685800"/>
          </a:xfrm>
          <a:prstGeom prst="roundRect">
            <a:avLst/>
          </a:prstGeom>
          <a:solidFill>
            <a:srgbClr val="E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5340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2"/>
                </a:solidFill>
                <a:latin typeface="Aptos"/>
              </a:defRPr>
            </a:pPr>
            <a:r>
              <a:t>Design  →  Develop  →  Test  →  Refine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5624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3"/>
                </a:solidFill>
                <a:latin typeface="Aptos"/>
              </a:defRPr>
            </a:pPr>
            <a:r>
              <a:t>BAXELLE GLOBAL PVT LTD  |  Pradyumn Saxena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2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773"/>
                </a:solidFill>
                <a:latin typeface="Aptos"/>
              </a:defRPr>
            </a:pPr>
            <a:r>
              <a:t>Taking an application module from design concept to a functional, tested front-end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572000" cy="420624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3052"/>
                </a:solidFill>
                <a:latin typeface="Aptos Display"/>
              </a:defRPr>
            </a:pPr>
            <a:r>
              <a:t>Observed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3886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32A32"/>
                </a:solidFill>
                <a:latin typeface="Aptos"/>
              </a:defRPr>
            </a:pPr>
            <a:r>
              <a:t>Poorly structured interfaces can reduce usability.</a:t>
            </a:r>
          </a:p>
          <a:p>
            <a:pPr>
              <a:spcAft>
                <a:spcPts val="1000"/>
              </a:spcAft>
              <a:defRPr sz="1550">
                <a:solidFill>
                  <a:srgbClr val="232A32"/>
                </a:solidFill>
                <a:latin typeface="Aptos"/>
              </a:defRPr>
            </a:pPr>
            <a:r>
              <a:t>Inconsistent design patterns affect user satisfaction.</a:t>
            </a:r>
          </a:p>
          <a:p>
            <a:pPr>
              <a:spcAft>
                <a:spcPts val="1000"/>
              </a:spcAft>
              <a:defRPr sz="1550">
                <a:solidFill>
                  <a:srgbClr val="232A32"/>
                </a:solidFill>
                <a:latin typeface="Aptos"/>
              </a:defRPr>
            </a:pPr>
            <a:r>
              <a:t>Unresolved functional and visual bugs increase maintenance effort.</a:t>
            </a:r>
          </a:p>
          <a:p>
            <a:pPr>
              <a:spcAft>
                <a:spcPts val="1000"/>
              </a:spcAft>
              <a:defRPr sz="1550">
                <a:solidFill>
                  <a:srgbClr val="232A32"/>
                </a:solidFill>
                <a:latin typeface="Aptos"/>
              </a:defRPr>
            </a:pPr>
            <a:r>
              <a:t>Responsive behaviour must work across mobile, tablet and desktop breakpoints.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7373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3052"/>
                </a:solidFill>
                <a:latin typeface="Aptos Display"/>
              </a:defRPr>
            </a:pPr>
            <a:r>
              <a:t>Internship Approach</a:t>
            </a:r>
          </a:p>
        </p:txBody>
      </p:sp>
      <p:sp>
        <p:nvSpPr>
          <p:cNvPr id="9" name="Oval 8"/>
          <p:cNvSpPr/>
          <p:nvPr/>
        </p:nvSpPr>
        <p:spPr>
          <a:xfrm>
            <a:off x="5897880" y="2377440"/>
            <a:ext cx="347472" cy="347472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2395728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68296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t>Study existing interface</a:t>
            </a:r>
          </a:p>
        </p:txBody>
      </p:sp>
      <p:sp>
        <p:nvSpPr>
          <p:cNvPr id="12" name="Oval 11"/>
          <p:cNvSpPr/>
          <p:nvPr/>
        </p:nvSpPr>
        <p:spPr>
          <a:xfrm>
            <a:off x="5897880" y="2907792"/>
            <a:ext cx="347472" cy="347472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926080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98648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t>Identify usability / consistency issues</a:t>
            </a:r>
          </a:p>
        </p:txBody>
      </p:sp>
      <p:sp>
        <p:nvSpPr>
          <p:cNvPr id="15" name="Oval 14"/>
          <p:cNvSpPr/>
          <p:nvPr/>
        </p:nvSpPr>
        <p:spPr>
          <a:xfrm>
            <a:off x="5897880" y="3438144"/>
            <a:ext cx="347472" cy="347472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3456432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29000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t>Propose UI/UX improvements</a:t>
            </a:r>
          </a:p>
        </p:txBody>
      </p:sp>
      <p:sp>
        <p:nvSpPr>
          <p:cNvPr id="18" name="Oval 17"/>
          <p:cNvSpPr/>
          <p:nvPr/>
        </p:nvSpPr>
        <p:spPr>
          <a:xfrm>
            <a:off x="5897880" y="3968496"/>
            <a:ext cx="347472" cy="347472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3986783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5935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t>Implement front-end changes</a:t>
            </a:r>
          </a:p>
        </p:txBody>
      </p:sp>
      <p:sp>
        <p:nvSpPr>
          <p:cNvPr id="21" name="Oval 20"/>
          <p:cNvSpPr/>
          <p:nvPr/>
        </p:nvSpPr>
        <p:spPr>
          <a:xfrm>
            <a:off x="5897880" y="4498848"/>
            <a:ext cx="347472" cy="347472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4517136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8970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t>Debug &amp; test</a:t>
            </a:r>
          </a:p>
        </p:txBody>
      </p:sp>
      <p:sp>
        <p:nvSpPr>
          <p:cNvPr id="24" name="Oval 23"/>
          <p:cNvSpPr/>
          <p:nvPr/>
        </p:nvSpPr>
        <p:spPr>
          <a:xfrm>
            <a:off x="5897880" y="5029200"/>
            <a:ext cx="347472" cy="347472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5047488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20056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t>Review and refine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55624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3"/>
                </a:solidFill>
                <a:latin typeface="Aptos"/>
              </a:defRPr>
            </a:pPr>
            <a:r>
              <a:t>BAXELLE GLOBAL PVT LTD  |  Pradyumn Saxena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2"/>
                </a:solidFill>
                <a:latin typeface="Aptos Display"/>
              </a:defRPr>
            </a:pPr>
            <a:r>
              <a:t>Project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773"/>
                </a:solidFill>
                <a:latin typeface="Aptos"/>
              </a:defRPr>
            </a:pPr>
            <a:r>
              <a:t>What the internship aimed to develop and what the work covered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49240" cy="452628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1645920"/>
            <a:ext cx="530352" cy="530352"/>
          </a:xfrm>
          <a:prstGeom prst="ellipse">
            <a:avLst/>
          </a:prstGeom>
          <a:solidFill>
            <a:srgbClr val="E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64208"/>
            <a:ext cx="530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Segoe UI Emoj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892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C6773"/>
                </a:solidFill>
                <a:latin typeface="Aptos"/>
              </a:defRPr>
            </a:pPr>
            <a:r>
              <a:t>• Understand UI/UX principles: layout, typography, colour theory, accessibility and consistency.</a:t>
            </a:r>
            <a:br/>
            <a:r>
              <a:t>• Gain practical experience identifying, reproducing and fixing bugs.</a:t>
            </a:r>
            <a:br/>
            <a:r>
              <a:t>• Learn the application development workflow from wireframing to deployment-ready builds.</a:t>
            </a:r>
            <a:br/>
            <a:r>
              <a:t>• Develop front-end proficiency with responsive layouts and component-based design.</a:t>
            </a:r>
            <a:br/>
            <a:r>
              <a:t>• Apply classroom knowledge in a team-based industrial setting.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49240" cy="452628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73368" y="1645920"/>
            <a:ext cx="530352" cy="530352"/>
          </a:xfrm>
          <a:prstGeom prst="ellipse">
            <a:avLst/>
          </a:prstGeom>
          <a:solidFill>
            <a:srgbClr val="E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664208"/>
            <a:ext cx="530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Segoe UI Emoji"/>
              </a:defRPr>
            </a:pPr>
            <a:r>
              <a:t>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5856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4892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C6773"/>
                </a:solidFill>
                <a:latin typeface="Aptos"/>
              </a:defRPr>
            </a:pPr>
            <a:r>
              <a:t>• Analyse selected application screens for usability issues.</a:t>
            </a:r>
            <a:br/>
            <a:r>
              <a:t>• Create wireframes and high-fidelity mockups.</a:t>
            </a:r>
            <a:br/>
            <a:r>
              <a:t>• Implement approved designs using front-end technologies.</a:t>
            </a:r>
            <a:br/>
            <a:r>
              <a:t>• Test and debug screens across mobile, tablet and desktop breakpoints.</a:t>
            </a:r>
            <a:br/>
            <a:r>
              <a:t>• Scope was focused on front-end components; backend logic, database design and production infrastructure remained outside the internship scope.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5624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3"/>
                </a:solidFill>
                <a:latin typeface="Aptos"/>
              </a:defRPr>
            </a:pPr>
            <a:r>
              <a:t>BAXELLE GLOBAL PVT LTD  |  Pradyumn Saxena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2"/>
                </a:solidFill>
                <a:latin typeface="Aptos Display"/>
              </a:defRPr>
            </a:pPr>
            <a:r>
              <a:t>Technologies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773"/>
                </a:solidFill>
                <a:latin typeface="Aptos"/>
              </a:defRPr>
            </a:pPr>
            <a:r>
              <a:t>Tools and technologies explicitly listed in the internship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749808"/>
          </a:xfrm>
          <a:prstGeom prst="roundRect">
            <a:avLst/>
          </a:prstGeom>
          <a:solidFill>
            <a:srgbClr val="F6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36192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52"/>
                </a:solidFill>
                <a:latin typeface="Aptos"/>
              </a:defRPr>
            </a:pPr>
            <a:r>
              <a:t>Figma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5270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Wireframing, prototyping &amp; design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257800" cy="749808"/>
          </a:xfrm>
          <a:prstGeom prst="roundRect">
            <a:avLst/>
          </a:prstGeom>
          <a:solidFill>
            <a:srgbClr val="F6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36192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52"/>
                </a:solidFill>
                <a:latin typeface="Aptos"/>
              </a:defRPr>
            </a:pPr>
            <a:r>
              <a:t>HTML5 / CSS3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52704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Front-end structure, styling &amp; layouts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77440"/>
            <a:ext cx="5257800" cy="749808"/>
          </a:xfrm>
          <a:prstGeom prst="roundRect">
            <a:avLst/>
          </a:prstGeom>
          <a:solidFill>
            <a:srgbClr val="F6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496312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52"/>
                </a:solidFill>
                <a:latin typeface="Aptos"/>
              </a:defRPr>
            </a:pPr>
            <a:r>
              <a:t>JavaScript ES6+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48716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Interactive front-end behaviour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377440"/>
            <a:ext cx="5257800" cy="749808"/>
          </a:xfrm>
          <a:prstGeom prst="roundRect">
            <a:avLst/>
          </a:prstGeom>
          <a:solidFill>
            <a:srgbClr val="F6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496312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52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8716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Reusable component-based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37560"/>
            <a:ext cx="5257800" cy="749808"/>
          </a:xfrm>
          <a:prstGeom prst="roundRect">
            <a:avLst/>
          </a:prstGeom>
          <a:solidFill>
            <a:srgbClr val="F6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456432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52"/>
                </a:solidFill>
                <a:latin typeface="Aptos"/>
              </a:defRPr>
            </a:pPr>
            <a:r>
              <a:t>Bootstrap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44728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Responsive layouts &amp; utility classes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337560"/>
            <a:ext cx="5257800" cy="749808"/>
          </a:xfrm>
          <a:prstGeom prst="roundRect">
            <a:avLst/>
          </a:prstGeom>
          <a:solidFill>
            <a:srgbClr val="F6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456432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52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44728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Version 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97680"/>
            <a:ext cx="5257800" cy="749808"/>
          </a:xfrm>
          <a:prstGeom prst="roundRect">
            <a:avLst/>
          </a:prstGeom>
          <a:solidFill>
            <a:srgbClr val="F6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416552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52"/>
                </a:solidFill>
                <a:latin typeface="Aptos"/>
              </a:defRPr>
            </a:pPr>
            <a:r>
              <a:t>Chrome DevTools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40740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DOM inspection, console errors &amp; breakpoints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297680"/>
            <a:ext cx="5257800" cy="749808"/>
          </a:xfrm>
          <a:prstGeom prst="roundRect">
            <a:avLst/>
          </a:prstGeom>
          <a:solidFill>
            <a:srgbClr val="F6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416552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52"/>
                </a:solidFill>
                <a:latin typeface="Aptos"/>
              </a:defRPr>
            </a:pPr>
            <a:r>
              <a:t>Postman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0740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API response verification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57800"/>
            <a:ext cx="5257800" cy="749808"/>
          </a:xfrm>
          <a:prstGeom prst="roundRect">
            <a:avLst/>
          </a:prstGeom>
          <a:solidFill>
            <a:srgbClr val="F6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5376672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52"/>
                </a:solidFill>
                <a:latin typeface="Aptos"/>
              </a:defRPr>
            </a:pPr>
            <a:r>
              <a:t>VS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536752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Development environment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5257800"/>
            <a:ext cx="5257800" cy="749808"/>
          </a:xfrm>
          <a:prstGeom prst="roundRect">
            <a:avLst/>
          </a:prstGeom>
          <a:solidFill>
            <a:srgbClr val="F6F9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5376672"/>
            <a:ext cx="1691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052"/>
                </a:solidFill>
                <a:latin typeface="Aptos"/>
              </a:defRPr>
            </a:pPr>
            <a:r>
              <a:t>Slack /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36752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Daily communication with mentor/team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655624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3"/>
                </a:solidFill>
                <a:latin typeface="Aptos"/>
              </a:defRPr>
            </a:pPr>
            <a:r>
              <a:t>BAXELLE GLOBAL PVT LTD  |  Pradyumn Saxena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2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773"/>
                </a:solidFill>
                <a:latin typeface="Aptos"/>
              </a:defRPr>
            </a:pPr>
            <a:r>
              <a:t>Three-layer client-server architecture described in the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17320"/>
            <a:ext cx="6675120" cy="868680"/>
          </a:xfrm>
          <a:prstGeom prst="round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1527048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527048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UI components • Pages • Routing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06440" y="2313432"/>
            <a:ext cx="502920" cy="320040"/>
          </a:xfrm>
          <a:prstGeom prst="downArrow">
            <a:avLst/>
          </a:prstGeom>
          <a:solidFill>
            <a:srgbClr val="BE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2651760"/>
            <a:ext cx="6675120" cy="868680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761488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APPLICATION / STATE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761488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Data flow • Component state • API calls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06440" y="3547872"/>
            <a:ext cx="502920" cy="320040"/>
          </a:xfrm>
          <a:prstGeom prst="downArrow">
            <a:avLst/>
          </a:prstGeom>
          <a:solidFill>
            <a:srgbClr val="BE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3886200"/>
            <a:ext cx="6675120" cy="868680"/>
          </a:xfrm>
          <a:prstGeom prst="roundRect">
            <a:avLst/>
          </a:prstGeom>
          <a:solidFill>
            <a:srgbClr val="C5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3995928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SERVICE / API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995928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RESTful endpoints • Backend data/services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12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Front-end communicated with the back-end using asynchronous HTTP requests.</a:t>
            </a:r>
          </a:p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API responses dynamically rendered content within reusable UI components.</a:t>
            </a:r>
          </a:p>
          <a:p>
            <a:pPr>
              <a:spcAft>
                <a:spcPts val="1000"/>
              </a:spcAft>
              <a:defRPr sz="1300">
                <a:solidFill>
                  <a:srgbClr val="232A32"/>
                </a:solidFill>
                <a:latin typeface="Aptos"/>
              </a:defRPr>
            </a:pPr>
            <a:r>
              <a:t>Internship work concentrated primarily on the Presentation Layer and, to a lesser extent, the Application/State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5624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3"/>
                </a:solidFill>
                <a:latin typeface="Aptos"/>
              </a:defRPr>
            </a:pPr>
            <a:r>
              <a:t>BAXELLE GLOBAL PVT LTD  |  Pradyumn Saxena   •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2"/>
                </a:solidFill>
                <a:latin typeface="Aptos Display"/>
              </a:defRPr>
            </a:pPr>
            <a:r>
              <a:t>Six-Week Internship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773"/>
                </a:solidFill>
                <a:latin typeface="Aptos"/>
              </a:defRPr>
            </a:pPr>
            <a:r>
              <a:t>Progression from orientation to integration, review and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691640" cy="434340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1691640" cy="64008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417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2"/>
                </a:solidFill>
                <a:latin typeface="Aptos Display"/>
              </a:defRPr>
            </a:pPr>
            <a:r>
              <a:t>Orientation &amp;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41732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773"/>
                </a:solidFill>
                <a:latin typeface="Aptos"/>
              </a:defRPr>
            </a:pPr>
            <a:r>
              <a:t>Tools, codebase, workflow; UI/UX fundamentals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508760"/>
            <a:ext cx="1691640" cy="434340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4600" y="1508760"/>
            <a:ext cx="1691640" cy="64008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66420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377440"/>
            <a:ext cx="1417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2"/>
                </a:solidFill>
                <a:latin typeface="Aptos Display"/>
              </a:defRPr>
            </a:pPr>
            <a:r>
              <a:t>UI/UX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429000"/>
            <a:ext cx="141732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773"/>
                </a:solidFill>
                <a:latin typeface="Aptos"/>
              </a:defRPr>
            </a:pPr>
            <a:r>
              <a:t>Figma; wireframes; usability and consistency improvements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508760"/>
            <a:ext cx="1691640" cy="434340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508760"/>
            <a:ext cx="1691640" cy="64008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66420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77440"/>
            <a:ext cx="1417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2"/>
                </a:solidFill>
                <a:latin typeface="Aptos Display"/>
              </a:defRPr>
            </a:pPr>
            <a:r>
              <a:t>Front-End Basics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29000"/>
            <a:ext cx="141732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773"/>
                </a:solidFill>
                <a:latin typeface="Aptos"/>
              </a:defRPr>
            </a:pPr>
            <a:r>
              <a:t>HTML, CSS, JavaScript; React; responsive layouts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508760"/>
            <a:ext cx="1691640" cy="434340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508760"/>
            <a:ext cx="1691640" cy="64008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66420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1417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2"/>
                </a:solidFill>
                <a:latin typeface="Aptos Display"/>
              </a:defRPr>
            </a:pPr>
            <a:r>
              <a:t>Application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29000"/>
            <a:ext cx="141732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773"/>
                </a:solidFill>
                <a:latin typeface="Aptos"/>
              </a:defRPr>
            </a:pPr>
            <a:r>
              <a:t>State management; hooks; sample APIs; dynamic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1508760"/>
            <a:ext cx="1691640" cy="434340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1508760"/>
            <a:ext cx="1691640" cy="64008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66420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WEEK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377440"/>
            <a:ext cx="1417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2"/>
                </a:solidFill>
                <a:latin typeface="Aptos Display"/>
              </a:defRPr>
            </a:pPr>
            <a:r>
              <a:t>Debugging &amp;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29000"/>
            <a:ext cx="141732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773"/>
                </a:solidFill>
                <a:latin typeface="Aptos"/>
              </a:defRPr>
            </a:pPr>
            <a:r>
              <a:t>DevTools; DOM; console errors; breakpoints; bug fixes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95560" y="1508760"/>
            <a:ext cx="1691640" cy="434340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95560" y="1508760"/>
            <a:ext cx="1691640" cy="640080"/>
          </a:xfrm>
          <a:prstGeom prst="rect">
            <a:avLst/>
          </a:prstGeom>
          <a:solidFill>
            <a:srgbClr val="C59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166420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WEEK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2377440"/>
            <a:ext cx="1417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2"/>
                </a:solidFill>
                <a:latin typeface="Aptos Display"/>
              </a:defRPr>
            </a:pPr>
            <a:r>
              <a:t>Integration &amp;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3429000"/>
            <a:ext cx="141732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773"/>
                </a:solidFill>
                <a:latin typeface="Aptos"/>
              </a:defRPr>
            </a:pPr>
            <a:r>
              <a:t>Cross-browser/device testing; presentation; feedback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655624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3"/>
                </a:solidFill>
                <a:latin typeface="Aptos"/>
              </a:defRPr>
            </a:pPr>
            <a:r>
              <a:t>BAXELLE GLOBAL PVT LTD  |  Pradyumn Saxena   •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2"/>
                </a:solidFill>
                <a:latin typeface="Aptos Display"/>
              </a:defRPr>
            </a:pPr>
            <a:r>
              <a:t>Debugging &amp; Testing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773"/>
                </a:solidFill>
                <a:latin typeface="Aptos"/>
              </a:defRPr>
            </a:pPr>
            <a:r>
              <a:t>Systematic issue diagnosis, correction and validation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417320"/>
            <a:ext cx="566928" cy="566928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17904"/>
            <a:ext cx="5669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39903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Reproduce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185623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3"/>
                </a:solidFill>
                <a:latin typeface="Aptos"/>
              </a:defRPr>
            </a:pPr>
            <a:r>
              <a:t>Confirm the issue and observe actual behaviour.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1417320"/>
            <a:ext cx="566928" cy="566928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17904"/>
            <a:ext cx="5669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139903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85623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3"/>
                </a:solidFill>
                <a:latin typeface="Aptos"/>
              </a:defRPr>
            </a:pPr>
            <a:r>
              <a:t>Check expected vs. actual behaviour.</a:t>
            </a:r>
          </a:p>
        </p:txBody>
      </p:sp>
      <p:sp>
        <p:nvSpPr>
          <p:cNvPr id="13" name="Oval 12"/>
          <p:cNvSpPr/>
          <p:nvPr/>
        </p:nvSpPr>
        <p:spPr>
          <a:xfrm>
            <a:off x="8275320" y="1417320"/>
            <a:ext cx="566928" cy="566928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17904"/>
            <a:ext cx="5669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139903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Isolate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185623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3"/>
                </a:solidFill>
                <a:latin typeface="Aptos"/>
              </a:defRPr>
            </a:pPr>
            <a:r>
              <a:t>Narrow the issue to the relevant component or interaction.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657600"/>
            <a:ext cx="566928" cy="566928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5669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363931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09651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3"/>
                </a:solidFill>
                <a:latin typeface="Aptos"/>
              </a:defRPr>
            </a:pPr>
            <a:r>
              <a:t>Apply an appropriate implementation change.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3657600"/>
            <a:ext cx="566928" cy="566928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758184"/>
            <a:ext cx="5669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63931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Retest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409651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3"/>
                </a:solidFill>
                <a:latin typeface="Aptos"/>
              </a:defRPr>
            </a:pPr>
            <a:r>
              <a:t>Verify that the original issue is resolved.</a:t>
            </a:r>
          </a:p>
        </p:txBody>
      </p:sp>
      <p:sp>
        <p:nvSpPr>
          <p:cNvPr id="25" name="Oval 24"/>
          <p:cNvSpPr/>
          <p:nvPr/>
        </p:nvSpPr>
        <p:spPr>
          <a:xfrm>
            <a:off x="8275320" y="3657600"/>
            <a:ext cx="566928" cy="566928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58184"/>
            <a:ext cx="5669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5128" y="363931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Regression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409651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3"/>
                </a:solidFill>
                <a:latin typeface="Aptos"/>
              </a:defRPr>
            </a:pPr>
            <a:r>
              <a:t>Ensure related functionality still works.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5806440"/>
            <a:ext cx="9784080" cy="475488"/>
          </a:xfrm>
          <a:prstGeom prst="roundRect">
            <a:avLst/>
          </a:prstGeom>
          <a:solidFill>
            <a:srgbClr val="E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5925312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3052"/>
                </a:solidFill>
                <a:latin typeface="Aptos"/>
              </a:defRPr>
            </a:pPr>
            <a:r>
              <a:t>Chrome DevTools  •  DOM Inspection  •  Console  •  Breakpoints  •  State Tracing  •  Postman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655624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3"/>
                </a:solidFill>
                <a:latin typeface="Aptos"/>
              </a:defRPr>
            </a:pPr>
            <a:r>
              <a:t>BAXELLE GLOBAL PVT LTD  |  Pradyumn Saxena   •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2"/>
                </a:solidFill>
                <a:latin typeface="Aptos Display"/>
              </a:defRPr>
            </a:pPr>
            <a:r>
              <a:t>Key Outcomes &amp; Skills Developed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773"/>
                </a:solidFill>
                <a:latin typeface="Aptos"/>
              </a:defRPr>
            </a:pPr>
            <a:r>
              <a:t>Technical, analytical and professional outcomes from the internship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178308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1848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UI/UX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75688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User flows, usability, accessibility, visual hierarchy, wireframing and prototyping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83280" cy="178308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61848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Front-End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075688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HTML, CSS, JavaScript, React.js, Bootstrap, responsive and component-based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383280" cy="178308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161848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App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075688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State management, React hooks, API integration and dynamic data rendering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3383280" cy="178308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76732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Debugging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224528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Issue reproduction, DOM inspection, console errors, breakpoints and regression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66160"/>
            <a:ext cx="3383280" cy="178308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376732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4224528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Cross-browser/device testing and validation of corrected functionality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566160"/>
            <a:ext cx="3383280" cy="178308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376732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Professional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4224528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3"/>
                </a:solidFill>
                <a:latin typeface="Aptos"/>
              </a:defRPr>
            </a:pPr>
            <a:r>
              <a:t>Team collaboration, mentor communication, feedback and task-based deadlines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655624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3"/>
                </a:solidFill>
                <a:latin typeface="Aptos"/>
              </a:defRPr>
            </a:pPr>
            <a:r>
              <a:t>BAXELLE GLOBAL PVT LTD  |  Pradyumn Saxena   •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2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773"/>
                </a:solidFill>
                <a:latin typeface="Aptos"/>
              </a:defRPr>
            </a:pPr>
            <a:r>
              <a:t>Bridging academic learning with practical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32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The internship provided practical exposure to the connected stages of application development.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UI/UX learning helped translate user needs and design concepts into structured interfaces.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Front-end and application development demonstrated how designs become interactive, functional components.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Debugging and testing developed a systematic approach to identifying, fixing and validating issues.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The six-week experience strengthened technical knowledge, analytical thinking, problem-solving, communication and professional work habits.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983480"/>
            <a:ext cx="8549640" cy="868680"/>
          </a:xfrm>
          <a:prstGeom prst="round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5184648"/>
            <a:ext cx="8092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Design  →  Implement  →  Debug  →  Test  →  Refine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5624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3"/>
                </a:solidFill>
                <a:latin typeface="Aptos"/>
              </a:defRPr>
            </a:pPr>
            <a:r>
              <a:t>BAXELLE GLOBAL PVT LTD  |  Pradyumn Saxena   •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2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773"/>
                </a:solidFill>
                <a:latin typeface="Aptos"/>
              </a:defRPr>
            </a:pPr>
            <a:r>
              <a:t>Sources listed in the internship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241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React Documentation – https://react.dev/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Mozilla Developer Network (MDN Web Docs) – https://developer.mozilla.org/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Figma Help Center – https://help.figma.com/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Bootstrap Documentation – https://getbootstrap.com/docs/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Internal training material and mentorship notes, BAXELLE GLOBAL PVT LTD (2026).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709160"/>
            <a:ext cx="813816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493776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3052"/>
                </a:solidFill>
                <a:latin typeface="Aptos Display"/>
              </a:defRPr>
            </a:pPr>
            <a:r>
              <a:t>PRADYUMN SAXENA  •  2410031193  •  B.Tech CSE – 3rd Year</a:t>
            </a:r>
          </a:p>
          <a:p>
            <a:pPr algn="ctr">
              <a:defRPr sz="1200">
                <a:solidFill>
                  <a:srgbClr val="5C6773"/>
                </a:solidFill>
                <a:latin typeface="Aptos"/>
              </a:defRPr>
            </a:pPr>
            <a:r>
              <a:t>IILM University, Greater Noida  |  BAXELLE GLOBAL PVT LTD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5624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773"/>
                </a:solidFill>
                <a:latin typeface="Aptos"/>
              </a:defRPr>
            </a:pPr>
            <a:r>
              <a:t>BAXELLE GLOBAL PVT LTD  |  Pradyumn Saxena   •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